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FDF"/>
    <a:srgbClr val="4E565E"/>
    <a:srgbClr val="414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82" y="10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C08F3-DCEB-AE33-6349-16B3E60C5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CDF47-EACD-C26F-982B-3A944228E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199D5-3540-328C-E32F-8CF481A35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802FF-1291-4765-BE7B-5CBD0570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851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6DC6-4E75-626B-E815-8C1ECAE64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28826"/>
            <a:ext cx="10515600" cy="452211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38E12-5D5E-CBB5-FF24-BD8D0C795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9CECB-5BEC-9F4A-1677-89F972C9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F4C64-87DF-5548-25C5-60E7681F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904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4836-D230-A70F-4B21-8E739593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5F941-8408-4EB6-8812-F6B45FD81B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802F0-29BA-FDFD-FC6E-3EBDBC530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72B36-8DC3-4F91-1D71-E30AE454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3789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A2BA9-4D55-6BBC-7875-4D7C940F3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486BB-1644-C0D6-959F-27ABF758C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7040A-F03D-3AE0-2C52-C8398CEB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11293-4D92-25AD-7F44-97C47F2D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E2ED7E-F9EA-A7F6-02BA-629CC379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28826"/>
            <a:ext cx="10515600" cy="452211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3298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F58EA-66E5-03EB-AB8A-B7CE0DB74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0E411-9960-03A5-E487-559CB71E50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AB4E1-3F90-011B-D76D-F9F35D6DE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1C9E0-3C11-0695-44A5-9B2E778F7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A3088-FAAC-311D-A3D3-016AD436B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34DD7-D3DB-F77D-56C1-E849EFB1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9387CD3-322D-F368-0200-1C94A300B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28826"/>
            <a:ext cx="10515600" cy="452211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449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EC874-0987-7DC7-702E-B45F871B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7B82F-8450-924E-539E-2250A90C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C5C24C-E233-8F6D-3833-5915A8060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28826"/>
            <a:ext cx="10515600" cy="452211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9231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062A2-6887-9C14-7C1F-F207D7AE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AAF92-D3FB-87A5-5F9B-48518CD5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110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FF7C-C90F-19E2-E6C0-6BB1A94C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F7BF0-0AF1-7F42-3991-F55CBAA38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7EE3F-6342-CCBF-77E3-E2AE43D72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2FC2E-A157-853F-3D35-DF8F8FDDF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A9A0A-1486-0C9F-7840-42F9AD2C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83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ACEB8-BBAD-D260-3701-F8606E2A4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19911-7303-359E-EE06-B8603085A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8B1E3-3CC0-2F86-2984-9E1830A5C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66E75-616E-6EFE-4E98-61DF4B3A1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F2D38-91B2-6469-74D1-0980052F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91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BB966-0D5C-ACE8-AE46-9CFE32AE8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0B905-20F0-58C9-B5C6-B10C6E14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39852-492A-30F5-46AB-2D0E61B07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A9130E-45CA-E7A7-3742-53D9541D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28826"/>
            <a:ext cx="10515600" cy="452211"/>
          </a:xfrm>
        </p:spPr>
        <p:txBody>
          <a:bodyPr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6874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FAD31E-9223-8F6B-E14C-573C666EC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401FB-2C0C-04EA-3DC6-70A4B8047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42402-E70A-2AC9-4D8D-7111B2AD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EDD54-F30C-FFBF-CB1C-41F66902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029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DF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A80728-3E9D-DF3C-ABBF-DD9444ECE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28827"/>
            <a:ext cx="10515600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D52BA-295C-EE0D-A2D0-91BD6BFB3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079B2-E1D4-332C-AB09-3E59BB4E2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Consolas" panose="020B0609020204030204" pitchFamily="49" charset="0"/>
              </a:defRPr>
            </a:lvl1pPr>
          </a:lstStyle>
          <a:p>
            <a:r>
              <a:rPr lang="fr-FR" dirty="0"/>
              <a:t>Copyright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E2850-FE98-FDE7-D924-D00B6FD08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9457F6-4A22-4884-A7E4-1ADBA2DC702F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B78137B-DC91-A1C7-3215-12C2EE677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69" y="6307681"/>
            <a:ext cx="413884" cy="413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6749F8-628B-31F7-E45A-FFCE52875E35}"/>
              </a:ext>
            </a:extLst>
          </p:cNvPr>
          <p:cNvSpPr txBox="1"/>
          <p:nvPr/>
        </p:nvSpPr>
        <p:spPr>
          <a:xfrm>
            <a:off x="546653" y="6329957"/>
            <a:ext cx="163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41474E"/>
                </a:solidFill>
                <a:latin typeface="Consolas" panose="020B0609020204030204" pitchFamily="49" charset="0"/>
              </a:rPr>
              <a:t>vinicius.pm</a:t>
            </a:r>
            <a:endParaRPr lang="fr-FR" b="1" dirty="0">
              <a:solidFill>
                <a:srgbClr val="41474E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4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FF5D4E"/>
          </a:solidFill>
          <a:latin typeface="Consolas" panose="020B06090202040302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1474E"/>
          </a:solidFill>
          <a:latin typeface="Consolas" panose="020B0609020204030204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1474E"/>
          </a:solidFill>
          <a:latin typeface="Consolas" panose="020B0609020204030204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1474E"/>
          </a:solidFill>
          <a:latin typeface="Consolas" panose="020B0609020204030204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1474E"/>
          </a:solidFill>
          <a:latin typeface="Consolas" panose="020B0609020204030204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1474E"/>
          </a:solidFill>
          <a:latin typeface="Consolas" panose="020B0609020204030204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F67BD-1C66-74A9-517D-681E60E45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4800" dirty="0" err="1"/>
              <a:t>Automatizing</a:t>
            </a:r>
            <a:r>
              <a:rPr lang="fr-FR" sz="4800" dirty="0"/>
              <a:t> Platform Translations </a:t>
            </a:r>
            <a:r>
              <a:rPr lang="fr-FR" sz="4800" dirty="0" err="1"/>
              <a:t>with</a:t>
            </a:r>
            <a:r>
              <a:rPr lang="fr-FR" sz="4800" dirty="0"/>
              <a:t>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95BDB-B609-5548-14E4-75B13FEE31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Localize.biz + </a:t>
            </a:r>
            <a:r>
              <a:rPr lang="fr-FR" dirty="0" err="1"/>
              <a:t>OpenAI</a:t>
            </a:r>
            <a:r>
              <a:rPr lang="fr-FR" dirty="0"/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62414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9386-3C51-69B4-7598-395B90CA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Current</a:t>
            </a:r>
            <a:r>
              <a:rPr lang="fr-FR" dirty="0"/>
              <a:t> situation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528F0C-CA8F-B9A3-A47C-A7E0F8AF80FA}"/>
              </a:ext>
            </a:extLst>
          </p:cNvPr>
          <p:cNvSpPr txBox="1"/>
          <p:nvPr/>
        </p:nvSpPr>
        <p:spPr>
          <a:xfrm>
            <a:off x="1529838" y="1621411"/>
            <a:ext cx="2717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Manual translations…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E6EA14-5A4D-BD37-FA2D-09123B459C29}"/>
              </a:ext>
            </a:extLst>
          </p:cNvPr>
          <p:cNvGrpSpPr/>
          <p:nvPr/>
        </p:nvGrpSpPr>
        <p:grpSpPr>
          <a:xfrm>
            <a:off x="893221" y="2473917"/>
            <a:ext cx="3990645" cy="1454150"/>
            <a:chOff x="893221" y="2473917"/>
            <a:chExt cx="3990645" cy="145415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53D3B15-618D-9808-088D-86AA116CB90D}"/>
                </a:ext>
              </a:extLst>
            </p:cNvPr>
            <p:cNvGrpSpPr/>
            <p:nvPr/>
          </p:nvGrpSpPr>
          <p:grpSpPr>
            <a:xfrm>
              <a:off x="893221" y="2473917"/>
              <a:ext cx="1957587" cy="1454150"/>
              <a:chOff x="893221" y="2473917"/>
              <a:chExt cx="1957587" cy="145415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898A1F-C539-0EFB-A561-9A3EB988CDDA}"/>
                  </a:ext>
                </a:extLst>
              </p:cNvPr>
              <p:cNvSpPr txBox="1"/>
              <p:nvPr/>
            </p:nvSpPr>
            <p:spPr>
              <a:xfrm>
                <a:off x="893221" y="3558735"/>
                <a:ext cx="19575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Time-</a:t>
                </a:r>
                <a:r>
                  <a:rPr lang="fr-FR" b="1" dirty="0" err="1"/>
                  <a:t>consuming</a:t>
                </a:r>
                <a:endParaRPr lang="fr-FR" b="1" dirty="0"/>
              </a:p>
            </p:txBody>
          </p:sp>
          <p:pic>
            <p:nvPicPr>
              <p:cNvPr id="8" name="Graphic 7" descr="Watch with solid fill">
                <a:extLst>
                  <a:ext uri="{FF2B5EF4-FFF2-40B4-BE49-F238E27FC236}">
                    <a16:creationId xmlns:a16="http://schemas.microsoft.com/office/drawing/2014/main" id="{46182D29-06E7-D9E9-29C8-D5F9958DB4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414814" y="2473917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75139F7-8025-EC6E-3056-6B14E3CFB6E9}"/>
                </a:ext>
              </a:extLst>
            </p:cNvPr>
            <p:cNvGrpSpPr/>
            <p:nvPr/>
          </p:nvGrpSpPr>
          <p:grpSpPr>
            <a:xfrm>
              <a:off x="3939377" y="2473917"/>
              <a:ext cx="944489" cy="1454150"/>
              <a:chOff x="3939377" y="2473917"/>
              <a:chExt cx="944489" cy="145415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B2A6A3-9771-7A32-D2B8-A760DD9E2D2F}"/>
                  </a:ext>
                </a:extLst>
              </p:cNvPr>
              <p:cNvSpPr txBox="1"/>
              <p:nvPr/>
            </p:nvSpPr>
            <p:spPr>
              <a:xfrm>
                <a:off x="3939377" y="3558735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 err="1"/>
                  <a:t>Costly</a:t>
                </a:r>
                <a:endParaRPr lang="fr-FR" b="1" dirty="0"/>
              </a:p>
            </p:txBody>
          </p:sp>
          <p:pic>
            <p:nvPicPr>
              <p:cNvPr id="9" name="Graphic 8" descr="Dollar with solid fill">
                <a:extLst>
                  <a:ext uri="{FF2B5EF4-FFF2-40B4-BE49-F238E27FC236}">
                    <a16:creationId xmlns:a16="http://schemas.microsoft.com/office/drawing/2014/main" id="{4CD66C36-8178-0AC3-1DC0-FCF002E775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954421" y="2473917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C2897C3-7162-F773-C26B-852F19C657E4}"/>
              </a:ext>
            </a:extLst>
          </p:cNvPr>
          <p:cNvSpPr txBox="1"/>
          <p:nvPr/>
        </p:nvSpPr>
        <p:spPr>
          <a:xfrm>
            <a:off x="7576397" y="1621411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Automatic</a:t>
            </a:r>
            <a:r>
              <a:rPr lang="fr-FR" dirty="0"/>
              <a:t> translations…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632FD89-01AA-E3BE-9EC2-69359AF245B2}"/>
              </a:ext>
            </a:extLst>
          </p:cNvPr>
          <p:cNvGrpSpPr/>
          <p:nvPr/>
        </p:nvGrpSpPr>
        <p:grpSpPr>
          <a:xfrm>
            <a:off x="6718165" y="2473917"/>
            <a:ext cx="4813786" cy="2008148"/>
            <a:chOff x="6991542" y="2473917"/>
            <a:chExt cx="4813786" cy="200814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29019A1-19B2-4E7B-0FF1-91DBE3C3B2B8}"/>
                </a:ext>
              </a:extLst>
            </p:cNvPr>
            <p:cNvGrpSpPr/>
            <p:nvPr/>
          </p:nvGrpSpPr>
          <p:grpSpPr>
            <a:xfrm>
              <a:off x="6991542" y="2473917"/>
              <a:ext cx="1577676" cy="1731149"/>
              <a:chOff x="3622783" y="2473917"/>
              <a:chExt cx="1577676" cy="1731149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23AE48-3500-8D54-CF9F-1DB1B4DB1D07}"/>
                  </a:ext>
                </a:extLst>
              </p:cNvPr>
              <p:cNvSpPr txBox="1"/>
              <p:nvPr/>
            </p:nvSpPr>
            <p:spPr>
              <a:xfrm>
                <a:off x="3622783" y="3558735"/>
                <a:ext cx="157767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b="1" dirty="0"/>
                  <a:t>Not </a:t>
                </a:r>
                <a:r>
                  <a:rPr lang="fr-FR" b="1" dirty="0" err="1"/>
                  <a:t>adapted</a:t>
                </a:r>
                <a:endParaRPr lang="fr-FR" b="1" dirty="0"/>
              </a:p>
              <a:p>
                <a:pPr algn="ctr"/>
                <a:r>
                  <a:rPr lang="fr-FR" b="1" dirty="0"/>
                  <a:t>to </a:t>
                </a:r>
                <a:r>
                  <a:rPr lang="fr-FR" b="1" dirty="0" err="1"/>
                  <a:t>context</a:t>
                </a:r>
                <a:endParaRPr lang="fr-FR" b="1" dirty="0"/>
              </a:p>
            </p:txBody>
          </p:sp>
          <p:pic>
            <p:nvPicPr>
              <p:cNvPr id="17" name="Graphic 16" descr="Magnifying glass with solid fill">
                <a:extLst>
                  <a:ext uri="{FF2B5EF4-FFF2-40B4-BE49-F238E27FC236}">
                    <a16:creationId xmlns:a16="http://schemas.microsoft.com/office/drawing/2014/main" id="{032B3ABE-7BC9-9816-FBC7-B05FF01E73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3954421" y="2473917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C0C02FF-A0D9-4BBC-2F4B-6AEF3CEB6FC8}"/>
                </a:ext>
              </a:extLst>
            </p:cNvPr>
            <p:cNvGrpSpPr/>
            <p:nvPr/>
          </p:nvGrpSpPr>
          <p:grpSpPr>
            <a:xfrm>
              <a:off x="9214555" y="2473917"/>
              <a:ext cx="2590773" cy="2008148"/>
              <a:chOff x="3116235" y="2473917"/>
              <a:chExt cx="2590773" cy="2008148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C9DD609-1D1C-FC2A-FEA9-3AD12B282998}"/>
                  </a:ext>
                </a:extLst>
              </p:cNvPr>
              <p:cNvSpPr txBox="1"/>
              <p:nvPr/>
            </p:nvSpPr>
            <p:spPr>
              <a:xfrm>
                <a:off x="3116235" y="3558735"/>
                <a:ext cx="259077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/>
                  <a:t>Not </a:t>
                </a:r>
                <a:r>
                  <a:rPr lang="fr-FR" b="1" dirty="0" err="1"/>
                  <a:t>adapted</a:t>
                </a:r>
                <a:endParaRPr lang="fr-FR" b="1" dirty="0"/>
              </a:p>
              <a:p>
                <a:pPr algn="ctr"/>
                <a:r>
                  <a:rPr lang="fr-FR" b="1" dirty="0"/>
                  <a:t>to </a:t>
                </a:r>
                <a:r>
                  <a:rPr lang="fr-FR" b="1" dirty="0" err="1"/>
                  <a:t>company-specific</a:t>
                </a:r>
                <a:endParaRPr lang="fr-FR" b="1" dirty="0"/>
              </a:p>
              <a:p>
                <a:pPr algn="ctr"/>
                <a:r>
                  <a:rPr lang="fr-FR" b="1" dirty="0" err="1"/>
                  <a:t>vocabulary</a:t>
                </a:r>
                <a:endParaRPr lang="fr-FR" b="1" dirty="0"/>
              </a:p>
            </p:txBody>
          </p:sp>
          <p:pic>
            <p:nvPicPr>
              <p:cNvPr id="20" name="Graphic 19" descr="Open book with solid fill">
                <a:extLst>
                  <a:ext uri="{FF2B5EF4-FFF2-40B4-BE49-F238E27FC236}">
                    <a16:creationId xmlns:a16="http://schemas.microsoft.com/office/drawing/2014/main" id="{00474F03-A056-C149-3A1D-1BAD5DF0B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3954421" y="2473917"/>
                <a:ext cx="914400" cy="9144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44249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A6FE-B300-9D2C-3198-A06F33FB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A8FF5-7C5C-20AC-229F-F53C59B7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Manual translations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12FE53-0295-CA74-0C5E-D40BBB340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90" y="1169353"/>
            <a:ext cx="8327300" cy="4519295"/>
          </a:xfrm>
          <a:prstGeom prst="roundRect">
            <a:avLst>
              <a:gd name="adj" fmla="val 2900"/>
            </a:avLst>
          </a:prstGeom>
        </p:spPr>
      </p:pic>
      <p:pic>
        <p:nvPicPr>
          <p:cNvPr id="11" name="Graphic 10" descr="Office worker female outline">
            <a:extLst>
              <a:ext uri="{FF2B5EF4-FFF2-40B4-BE49-F238E27FC236}">
                <a16:creationId xmlns:a16="http://schemas.microsoft.com/office/drawing/2014/main" id="{FD666F09-B0B7-9C97-FEEE-C0FBF6845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47609" y="2337414"/>
            <a:ext cx="584775" cy="5847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21A0B7-2510-9D48-4DB7-48715E92DD89}"/>
              </a:ext>
            </a:extLst>
          </p:cNvPr>
          <p:cNvSpPr txBox="1"/>
          <p:nvPr/>
        </p:nvSpPr>
        <p:spPr>
          <a:xfrm>
            <a:off x="9532384" y="2337413"/>
            <a:ext cx="2428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Employees</a:t>
            </a:r>
            <a:r>
              <a:rPr lang="fr-FR" sz="1600" dirty="0"/>
              <a:t> have </a:t>
            </a:r>
            <a:r>
              <a:rPr lang="fr-FR" sz="1600" dirty="0" err="1"/>
              <a:t>other</a:t>
            </a:r>
            <a:endParaRPr lang="fr-FR" sz="1600" dirty="0"/>
          </a:p>
          <a:p>
            <a:r>
              <a:rPr lang="fr-FR" sz="1600" dirty="0" err="1"/>
              <a:t>things</a:t>
            </a:r>
            <a:r>
              <a:rPr lang="fr-FR" sz="1600" dirty="0"/>
              <a:t> to do</a:t>
            </a:r>
          </a:p>
        </p:txBody>
      </p:sp>
      <p:pic>
        <p:nvPicPr>
          <p:cNvPr id="24" name="Graphic 23" descr="Online meeting outline">
            <a:extLst>
              <a:ext uri="{FF2B5EF4-FFF2-40B4-BE49-F238E27FC236}">
                <a16:creationId xmlns:a16="http://schemas.microsoft.com/office/drawing/2014/main" id="{7A5CEC71-A298-9908-C940-40BEBB4953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947609" y="3232960"/>
            <a:ext cx="584775" cy="584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71278FC-8C00-51D2-7A4E-4B3413035312}"/>
              </a:ext>
            </a:extLst>
          </p:cNvPr>
          <p:cNvSpPr txBox="1"/>
          <p:nvPr/>
        </p:nvSpPr>
        <p:spPr>
          <a:xfrm>
            <a:off x="9532384" y="3232959"/>
            <a:ext cx="24288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Coordination </a:t>
            </a:r>
            <a:r>
              <a:rPr lang="fr-FR" sz="1600" dirty="0" err="1"/>
              <a:t>is</a:t>
            </a:r>
            <a:r>
              <a:rPr lang="fr-FR" sz="1600" dirty="0"/>
              <a:t> </a:t>
            </a:r>
            <a:r>
              <a:rPr lang="fr-FR" sz="1600" dirty="0" err="1"/>
              <a:t>very</a:t>
            </a:r>
            <a:endParaRPr lang="fr-FR" sz="1600" dirty="0"/>
          </a:p>
          <a:p>
            <a:r>
              <a:rPr lang="fr-FR" sz="1600" dirty="0"/>
              <a:t>time-</a:t>
            </a:r>
            <a:r>
              <a:rPr lang="fr-FR" sz="1600" dirty="0" err="1"/>
              <a:t>consuming</a:t>
            </a:r>
            <a:endParaRPr lang="fr-FR" sz="1600" dirty="0"/>
          </a:p>
        </p:txBody>
      </p:sp>
      <p:pic>
        <p:nvPicPr>
          <p:cNvPr id="26" name="Graphic 25" descr="Right Brain outline">
            <a:extLst>
              <a:ext uri="{FF2B5EF4-FFF2-40B4-BE49-F238E27FC236}">
                <a16:creationId xmlns:a16="http://schemas.microsoft.com/office/drawing/2014/main" id="{EB34FB1C-2D7A-9FAA-C112-348C56FD7B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947609" y="4128383"/>
            <a:ext cx="584775" cy="58477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090C051-401A-9F28-28D3-FAF5B2A98356}"/>
              </a:ext>
            </a:extLst>
          </p:cNvPr>
          <p:cNvSpPr txBox="1"/>
          <p:nvPr/>
        </p:nvSpPr>
        <p:spPr>
          <a:xfrm>
            <a:off x="9532384" y="4128382"/>
            <a:ext cx="2204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Translations </a:t>
            </a:r>
            <a:r>
              <a:rPr lang="fr-FR" sz="1600" dirty="0" err="1"/>
              <a:t>often</a:t>
            </a:r>
            <a:endParaRPr lang="fr-FR" sz="1600" dirty="0"/>
          </a:p>
          <a:p>
            <a:r>
              <a:rPr lang="fr-FR" sz="1600" dirty="0" err="1"/>
              <a:t>based</a:t>
            </a:r>
            <a:r>
              <a:rPr lang="fr-FR" sz="1600" dirty="0"/>
              <a:t> on </a:t>
            </a:r>
            <a:r>
              <a:rPr lang="fr-FR" sz="1600" dirty="0" err="1"/>
              <a:t>personal</a:t>
            </a:r>
            <a:endParaRPr lang="fr-FR" sz="1600" dirty="0"/>
          </a:p>
          <a:p>
            <a:r>
              <a:rPr lang="fr-FR" sz="1600" dirty="0"/>
              <a:t>opinion</a:t>
            </a:r>
          </a:p>
        </p:txBody>
      </p:sp>
    </p:spTree>
    <p:extLst>
      <p:ext uri="{BB962C8B-B14F-4D97-AF65-F5344CB8AC3E}">
        <p14:creationId xmlns:p14="http://schemas.microsoft.com/office/powerpoint/2010/main" val="2085926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3A04C-6D9C-E817-2634-540E060A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4385E-E479-340C-9DD9-F903BCF3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Automatic</a:t>
            </a:r>
            <a:r>
              <a:rPr lang="fr-FR" dirty="0"/>
              <a:t> translations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E6187-6B36-5679-D35B-19C852FE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57" y="1106042"/>
            <a:ext cx="8327300" cy="4645916"/>
          </a:xfrm>
          <a:prstGeom prst="roundRect">
            <a:avLst>
              <a:gd name="adj" fmla="val 2900"/>
            </a:avLst>
          </a:prstGeom>
        </p:spPr>
      </p:pic>
      <p:pic>
        <p:nvPicPr>
          <p:cNvPr id="5" name="Graphic 4" descr="Programmer male outline">
            <a:extLst>
              <a:ext uri="{FF2B5EF4-FFF2-40B4-BE49-F238E27FC236}">
                <a16:creationId xmlns:a16="http://schemas.microsoft.com/office/drawing/2014/main" id="{195378C3-5C0F-1C10-2D0B-B47BAE604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947609" y="2337414"/>
            <a:ext cx="584775" cy="584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FD9AB4-8098-34F0-E747-4A739B7548F4}"/>
              </a:ext>
            </a:extLst>
          </p:cNvPr>
          <p:cNvSpPr txBox="1"/>
          <p:nvPr/>
        </p:nvSpPr>
        <p:spPr>
          <a:xfrm>
            <a:off x="9532384" y="2337413"/>
            <a:ext cx="2092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/>
              <a:t>Still</a:t>
            </a:r>
            <a:r>
              <a:rPr lang="fr-FR" sz="1600" dirty="0"/>
              <a:t> </a:t>
            </a:r>
            <a:r>
              <a:rPr lang="fr-FR" sz="1600" dirty="0" err="1"/>
              <a:t>very</a:t>
            </a:r>
            <a:r>
              <a:rPr lang="fr-FR" sz="1600" dirty="0"/>
              <a:t> </a:t>
            </a:r>
            <a:r>
              <a:rPr lang="fr-FR" sz="1600" dirty="0" err="1"/>
              <a:t>manual</a:t>
            </a:r>
            <a:endParaRPr lang="fr-FR" sz="1600" dirty="0"/>
          </a:p>
          <a:p>
            <a:r>
              <a:rPr lang="fr-FR" sz="1600" dirty="0"/>
              <a:t>file management</a:t>
            </a:r>
          </a:p>
        </p:txBody>
      </p:sp>
      <p:pic>
        <p:nvPicPr>
          <p:cNvPr id="8" name="Graphic 7" descr="Document outline">
            <a:extLst>
              <a:ext uri="{FF2B5EF4-FFF2-40B4-BE49-F238E27FC236}">
                <a16:creationId xmlns:a16="http://schemas.microsoft.com/office/drawing/2014/main" id="{985C08F4-680B-05CF-A1ED-EBBEB08609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8947609" y="3232960"/>
            <a:ext cx="584775" cy="5847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BF9587-A37E-BFB7-6209-EEB7FDCD6A6B}"/>
              </a:ext>
            </a:extLst>
          </p:cNvPr>
          <p:cNvSpPr txBox="1"/>
          <p:nvPr/>
        </p:nvSpPr>
        <p:spPr>
          <a:xfrm>
            <a:off x="9532384" y="3232959"/>
            <a:ext cx="2092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Rewrite prompt at</a:t>
            </a:r>
          </a:p>
          <a:p>
            <a:r>
              <a:rPr lang="fr-FR" sz="1600" dirty="0" err="1"/>
              <a:t>each</a:t>
            </a:r>
            <a:r>
              <a:rPr lang="fr-FR" sz="1600" dirty="0"/>
              <a:t> time</a:t>
            </a:r>
          </a:p>
        </p:txBody>
      </p:sp>
      <p:pic>
        <p:nvPicPr>
          <p:cNvPr id="10" name="Graphic 9" descr="Clipboard Mixed outline">
            <a:extLst>
              <a:ext uri="{FF2B5EF4-FFF2-40B4-BE49-F238E27FC236}">
                <a16:creationId xmlns:a16="http://schemas.microsoft.com/office/drawing/2014/main" id="{28B2DC49-D456-F334-B8B0-6F2CD0D881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947609" y="4128383"/>
            <a:ext cx="584775" cy="584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66BBD5-993F-C422-61EE-DD08524FDA42}"/>
              </a:ext>
            </a:extLst>
          </p:cNvPr>
          <p:cNvSpPr txBox="1"/>
          <p:nvPr/>
        </p:nvSpPr>
        <p:spPr>
          <a:xfrm>
            <a:off x="9532384" y="4128382"/>
            <a:ext cx="27655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Prompt </a:t>
            </a:r>
            <a:r>
              <a:rPr lang="fr-FR" sz="1600" dirty="0" err="1"/>
              <a:t>often</a:t>
            </a:r>
            <a:endParaRPr lang="fr-FR" sz="1600" dirty="0"/>
          </a:p>
          <a:p>
            <a:r>
              <a:rPr lang="fr-FR" sz="1600" dirty="0" err="1"/>
              <a:t>incomplete</a:t>
            </a:r>
            <a:r>
              <a:rPr lang="fr-FR" sz="1600" dirty="0"/>
              <a:t> </a:t>
            </a:r>
            <a:r>
              <a:rPr lang="fr-FR" sz="1600" dirty="0" err="1"/>
              <a:t>generated</a:t>
            </a:r>
            <a:endParaRPr lang="fr-FR" sz="1600" dirty="0"/>
          </a:p>
          <a:p>
            <a:r>
              <a:rPr lang="fr-FR" sz="1600" dirty="0" err="1"/>
              <a:t>imprecise</a:t>
            </a:r>
            <a:r>
              <a:rPr lang="fr-FR" sz="1600" dirty="0"/>
              <a:t> translations </a:t>
            </a:r>
          </a:p>
        </p:txBody>
      </p:sp>
    </p:spTree>
    <p:extLst>
      <p:ext uri="{BB962C8B-B14F-4D97-AF65-F5344CB8AC3E}">
        <p14:creationId xmlns:p14="http://schemas.microsoft.com/office/powerpoint/2010/main" val="2401978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90BEF-3534-F215-05E2-6E8BA8B2F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57" y="228826"/>
            <a:ext cx="2156119" cy="452211"/>
          </a:xfrm>
        </p:spPr>
        <p:txBody>
          <a:bodyPr>
            <a:normAutofit fontScale="90000"/>
          </a:bodyPr>
          <a:lstStyle/>
          <a:p>
            <a:r>
              <a:rPr lang="fr-FR" dirty="0" err="1">
                <a:solidFill>
                  <a:schemeClr val="accent1"/>
                </a:solidFill>
              </a:rPr>
              <a:t>Proposal</a:t>
            </a:r>
            <a:endParaRPr lang="fr-FR" dirty="0">
              <a:solidFill>
                <a:schemeClr val="accent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2A3A4EF-DF20-C949-CB47-4694CD3492F8}"/>
              </a:ext>
            </a:extLst>
          </p:cNvPr>
          <p:cNvGrpSpPr/>
          <p:nvPr/>
        </p:nvGrpSpPr>
        <p:grpSpPr>
          <a:xfrm>
            <a:off x="755649" y="1394267"/>
            <a:ext cx="10680703" cy="4069466"/>
            <a:chOff x="782291" y="1445214"/>
            <a:chExt cx="10680703" cy="4069466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22453243-BB9D-9DE5-2395-845D93E9E9DC}"/>
                </a:ext>
              </a:extLst>
            </p:cNvPr>
            <p:cNvSpPr/>
            <p:nvPr/>
          </p:nvSpPr>
          <p:spPr>
            <a:xfrm>
              <a:off x="782291" y="1445214"/>
              <a:ext cx="10680703" cy="4069466"/>
            </a:xfrm>
            <a:prstGeom prst="roundRect">
              <a:avLst/>
            </a:prstGeom>
            <a:solidFill>
              <a:srgbClr val="EEEE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F165BB2-0F0A-CB9F-B0B4-2B10285BCFB5}"/>
                </a:ext>
              </a:extLst>
            </p:cNvPr>
            <p:cNvGrpSpPr/>
            <p:nvPr/>
          </p:nvGrpSpPr>
          <p:grpSpPr>
            <a:xfrm>
              <a:off x="1242346" y="1856902"/>
              <a:ext cx="9760592" cy="3246090"/>
              <a:chOff x="1406106" y="1563309"/>
              <a:chExt cx="9760592" cy="3246090"/>
            </a:xfrm>
          </p:grpSpPr>
          <p:pic>
            <p:nvPicPr>
              <p:cNvPr id="1026" name="Picture 2" descr="Loco - Translation Management System">
                <a:extLst>
                  <a:ext uri="{FF2B5EF4-FFF2-40B4-BE49-F238E27FC236}">
                    <a16:creationId xmlns:a16="http://schemas.microsoft.com/office/drawing/2014/main" id="{1E8EF7AC-DFC9-E4A7-EF20-639CFF9AFC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05000" y="2815030"/>
                <a:ext cx="533400" cy="533400"/>
              </a:xfrm>
              <a:prstGeom prst="roundRect">
                <a:avLst>
                  <a:gd name="adj" fmla="val 13667"/>
                </a:avLst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B8954D-EB2B-4839-B376-9FC66A53A481}"/>
                  </a:ext>
                </a:extLst>
              </p:cNvPr>
              <p:cNvSpPr txBox="1"/>
              <p:nvPr/>
            </p:nvSpPr>
            <p:spPr>
              <a:xfrm>
                <a:off x="1406106" y="3458194"/>
                <a:ext cx="153118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/>
                  <a:t>Translations</a:t>
                </a:r>
              </a:p>
              <a:p>
                <a:pPr algn="ctr"/>
                <a:r>
                  <a:rPr lang="fr-FR" sz="1600" dirty="0"/>
                  <a:t>Manager API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B74968-238D-C934-609A-2A3924402E09}"/>
                  </a:ext>
                </a:extLst>
              </p:cNvPr>
              <p:cNvSpPr txBox="1"/>
              <p:nvPr/>
            </p:nvSpPr>
            <p:spPr>
              <a:xfrm>
                <a:off x="6548301" y="3458198"/>
                <a:ext cx="108234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600" dirty="0"/>
                  <a:t>AI Model</a:t>
                </a:r>
              </a:p>
            </p:txBody>
          </p:sp>
          <p:pic>
            <p:nvPicPr>
              <p:cNvPr id="1028" name="Picture 4" descr="OpenAI (ChatGPT) Logo Free Download ... · LobeHub">
                <a:extLst>
                  <a:ext uri="{FF2B5EF4-FFF2-40B4-BE49-F238E27FC236}">
                    <a16:creationId xmlns:a16="http://schemas.microsoft.com/office/drawing/2014/main" id="{0937C77B-FD45-9961-8CED-E67D1DC5B1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prstClr val="black"/>
                  <a:schemeClr val="accent1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artisticLineDrawing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00775" y="2815029"/>
                <a:ext cx="533401" cy="5334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>
                <a:extLst>
                  <a:ext uri="{FF2B5EF4-FFF2-40B4-BE49-F238E27FC236}">
                    <a16:creationId xmlns:a16="http://schemas.microsoft.com/office/drawing/2014/main" id="{12B9D940-EE10-892D-CAD9-6D0E8A14AE5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34176" y="2815030"/>
                <a:ext cx="710598" cy="5333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Meta logo and the history of the business | LogoMyWay">
                <a:extLst>
                  <a:ext uri="{FF2B5EF4-FFF2-40B4-BE49-F238E27FC236}">
                    <a16:creationId xmlns:a16="http://schemas.microsoft.com/office/drawing/2014/main" id="{EC10D6D1-5D85-B2F1-9285-3BBAEB9161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8624" y="2815029"/>
                <a:ext cx="554142" cy="533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2" descr="Loco - Translation Management System">
                <a:extLst>
                  <a:ext uri="{FF2B5EF4-FFF2-40B4-BE49-F238E27FC236}">
                    <a16:creationId xmlns:a16="http://schemas.microsoft.com/office/drawing/2014/main" id="{C3C0CA85-2FE9-67D0-5182-ADC7185A28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81457" y="2815029"/>
                <a:ext cx="533400" cy="533400"/>
              </a:xfrm>
              <a:prstGeom prst="roundRect">
                <a:avLst>
                  <a:gd name="adj" fmla="val 13667"/>
                </a:avLst>
              </a:prstGeom>
              <a:solidFill>
                <a:schemeClr val="tx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C8A044-5E64-91DA-12D7-8498BE624454}"/>
                  </a:ext>
                </a:extLst>
              </p:cNvPr>
              <p:cNvSpPr txBox="1"/>
              <p:nvPr/>
            </p:nvSpPr>
            <p:spPr>
              <a:xfrm>
                <a:off x="2848662" y="1563309"/>
                <a:ext cx="2082768" cy="1157764"/>
              </a:xfrm>
              <a:prstGeom prst="roundRect">
                <a:avLst/>
              </a:prstGeom>
              <a:noFill/>
              <a:ln w="19050">
                <a:solidFill>
                  <a:schemeClr val="accent5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400" b="1" dirty="0" err="1">
                    <a:solidFill>
                      <a:schemeClr val="accent5"/>
                    </a:solidFill>
                  </a:rPr>
                  <a:t>Glossary</a:t>
                </a:r>
                <a:endParaRPr lang="fr-FR" sz="1600" b="1" dirty="0">
                  <a:solidFill>
                    <a:schemeClr val="accent5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200" dirty="0" err="1">
                    <a:solidFill>
                      <a:schemeClr val="accent5"/>
                    </a:solidFill>
                  </a:rPr>
                  <a:t>Specific</a:t>
                </a:r>
                <a:r>
                  <a:rPr lang="fr-FR" sz="1200" dirty="0">
                    <a:solidFill>
                      <a:schemeClr val="accent5"/>
                    </a:solidFill>
                  </a:rPr>
                  <a:t> </a:t>
                </a:r>
                <a:r>
                  <a:rPr lang="fr-FR" sz="1200" dirty="0" err="1">
                    <a:solidFill>
                      <a:schemeClr val="accent5"/>
                    </a:solidFill>
                  </a:rPr>
                  <a:t>vocabulary</a:t>
                </a:r>
                <a:endParaRPr lang="fr-FR" sz="1200" dirty="0">
                  <a:solidFill>
                    <a:schemeClr val="accent5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fr-FR" sz="1200" dirty="0">
                    <a:solidFill>
                      <a:schemeClr val="accent5"/>
                    </a:solidFill>
                  </a:rPr>
                  <a:t>Tone (</a:t>
                </a:r>
                <a:r>
                  <a:rPr lang="fr-FR" sz="1200" dirty="0" err="1">
                    <a:solidFill>
                      <a:schemeClr val="accent5"/>
                    </a:solidFill>
                  </a:rPr>
                  <a:t>formal</a:t>
                </a:r>
                <a:r>
                  <a:rPr lang="fr-FR" sz="1200" dirty="0">
                    <a:solidFill>
                      <a:schemeClr val="accent5"/>
                    </a:solidFill>
                  </a:rPr>
                  <a:t>/</a:t>
                </a:r>
                <a:r>
                  <a:rPr lang="fr-FR" sz="1200" dirty="0" err="1">
                    <a:solidFill>
                      <a:schemeClr val="accent5"/>
                    </a:solidFill>
                  </a:rPr>
                  <a:t>informal</a:t>
                </a:r>
                <a:r>
                  <a:rPr lang="fr-FR" sz="1200" dirty="0">
                    <a:solidFill>
                      <a:schemeClr val="accent5"/>
                    </a:solidFill>
                  </a:rPr>
                  <a:t>)</a:t>
                </a:r>
              </a:p>
            </p:txBody>
          </p:sp>
          <p:cxnSp>
            <p:nvCxnSpPr>
              <p:cNvPr id="11" name="Connector: Elbow 10">
                <a:extLst>
                  <a:ext uri="{FF2B5EF4-FFF2-40B4-BE49-F238E27FC236}">
                    <a16:creationId xmlns:a16="http://schemas.microsoft.com/office/drawing/2014/main" id="{93465E8F-EA65-7D52-6AF5-3CB827B935A7}"/>
                  </a:ext>
                </a:extLst>
              </p:cNvPr>
              <p:cNvCxnSpPr>
                <a:cxnSpLocks/>
                <a:stCxn id="9" idx="2"/>
                <a:endCxn id="14" idx="1"/>
              </p:cNvCxnSpPr>
              <p:nvPr/>
            </p:nvCxnSpPr>
            <p:spPr>
              <a:xfrm rot="5400000">
                <a:off x="2986044" y="3224359"/>
                <a:ext cx="1407289" cy="400717"/>
              </a:xfrm>
              <a:prstGeom prst="bentConnector4">
                <a:avLst>
                  <a:gd name="adj1" fmla="val 18358"/>
                  <a:gd name="adj2" fmla="val 142786"/>
                </a:avLst>
              </a:prstGeom>
              <a:ln>
                <a:solidFill>
                  <a:schemeClr val="accent5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9EC5270-2DC1-F949-AFF6-7B54B30D69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54751" y="3110743"/>
                <a:ext cx="1454478" cy="0"/>
              </a:xfrm>
              <a:prstGeom prst="straightConnector1">
                <a:avLst/>
              </a:prstGeom>
              <a:ln w="571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C6F4EA-8614-4136-36F8-F7B151A62386}"/>
                  </a:ext>
                </a:extLst>
              </p:cNvPr>
              <p:cNvSpPr txBox="1"/>
              <p:nvPr/>
            </p:nvSpPr>
            <p:spPr>
              <a:xfrm>
                <a:off x="3489329" y="3447324"/>
                <a:ext cx="2086445" cy="1362075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sz="1400" b="1" dirty="0"/>
                  <a:t>Prompt</a:t>
                </a:r>
                <a:endParaRPr lang="fr-FR" sz="12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fr-FR" sz="1200" dirty="0"/>
                  <a:t>Business </a:t>
                </a:r>
                <a:r>
                  <a:rPr lang="fr-FR" sz="1200" dirty="0" err="1"/>
                  <a:t>context</a:t>
                </a:r>
                <a:endParaRPr lang="fr-FR" sz="12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fr-FR" sz="1200" dirty="0"/>
                  <a:t>Application </a:t>
                </a:r>
                <a:r>
                  <a:rPr lang="fr-FR" sz="1200" dirty="0" err="1"/>
                  <a:t>context</a:t>
                </a:r>
                <a:endParaRPr lang="fr-FR" sz="1200" dirty="0"/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fr-FR" sz="1200" dirty="0"/>
                  <a:t>HTML Tags, Links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fr-FR" sz="1200" dirty="0"/>
                  <a:t>Variables</a:t>
                </a:r>
              </a:p>
              <a:p>
                <a:pPr marL="171450" indent="-171450">
                  <a:buFont typeface="Wingdings" panose="05000000000000000000" pitchFamily="2" charset="2"/>
                  <a:buChar char="§"/>
                </a:pPr>
                <a:r>
                  <a:rPr lang="fr-FR" sz="1200" dirty="0"/>
                  <a:t>Date format</a:t>
                </a:r>
              </a:p>
            </p:txBody>
          </p:sp>
          <p:cxnSp>
            <p:nvCxnSpPr>
              <p:cNvPr id="22" name="Connector: Elbow 21">
                <a:extLst>
                  <a:ext uri="{FF2B5EF4-FFF2-40B4-BE49-F238E27FC236}">
                    <a16:creationId xmlns:a16="http://schemas.microsoft.com/office/drawing/2014/main" id="{38A690F2-532C-61B6-1A08-2068046F7CFA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>
              <a:xfrm rot="5400000" flipH="1" flipV="1">
                <a:off x="4447753" y="3195543"/>
                <a:ext cx="336581" cy="166983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2527CCA-43E1-D9E3-9DCE-BA8A12408F98}"/>
                  </a:ext>
                </a:extLst>
              </p:cNvPr>
              <p:cNvSpPr txBox="1"/>
              <p:nvPr/>
            </p:nvSpPr>
            <p:spPr>
              <a:xfrm>
                <a:off x="8603176" y="3458194"/>
                <a:ext cx="25635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200" dirty="0" err="1"/>
                  <a:t>Current</a:t>
                </a:r>
                <a:r>
                  <a:rPr lang="fr-FR" sz="1200" dirty="0"/>
                  <a:t>: </a:t>
                </a:r>
                <a:r>
                  <a:rPr lang="fr-FR" sz="1200" dirty="0" err="1"/>
                  <a:t>manual</a:t>
                </a:r>
                <a:r>
                  <a:rPr lang="fr-FR" sz="1200" dirty="0"/>
                  <a:t> .</a:t>
                </a:r>
                <a:r>
                  <a:rPr lang="fr-FR" sz="1200" dirty="0" err="1"/>
                  <a:t>json</a:t>
                </a:r>
                <a:r>
                  <a:rPr lang="fr-FR" sz="1200" dirty="0"/>
                  <a:t> export</a:t>
                </a:r>
              </a:p>
              <a:p>
                <a:r>
                  <a:rPr lang="fr-FR" sz="1200" dirty="0"/>
                  <a:t>Future: </a:t>
                </a:r>
                <a:r>
                  <a:rPr lang="fr-FR" sz="1200" dirty="0" err="1"/>
                  <a:t>integration</a:t>
                </a:r>
                <a:r>
                  <a:rPr lang="fr-FR" sz="1200" dirty="0"/>
                  <a:t> </a:t>
                </a:r>
                <a:r>
                  <a:rPr lang="fr-FR" sz="1200" dirty="0" err="1"/>
                  <a:t>with</a:t>
                </a:r>
                <a:r>
                  <a:rPr lang="fr-FR" sz="1200" dirty="0"/>
                  <a:t> API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74872BE-CFAF-4E23-5C08-F2745FC19284}"/>
                  </a:ext>
                </a:extLst>
              </p:cNvPr>
              <p:cNvSpPr txBox="1"/>
              <p:nvPr/>
            </p:nvSpPr>
            <p:spPr>
              <a:xfrm>
                <a:off x="9136635" y="2748083"/>
                <a:ext cx="6907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i="1" dirty="0">
                    <a:solidFill>
                      <a:schemeClr val="bg1">
                        <a:lumMod val="75000"/>
                      </a:schemeClr>
                    </a:solidFill>
                  </a:rPr>
                  <a:t>.</a:t>
                </a:r>
                <a:r>
                  <a:rPr lang="fr-FR" sz="1400" i="1" dirty="0" err="1">
                    <a:solidFill>
                      <a:schemeClr val="bg1">
                        <a:lumMod val="75000"/>
                      </a:schemeClr>
                    </a:solidFill>
                  </a:rPr>
                  <a:t>json</a:t>
                </a:r>
                <a:r>
                  <a:rPr lang="fr-FR" sz="1400" i="1" dirty="0">
                    <a:solidFill>
                      <a:schemeClr val="bg1">
                        <a:lumMod val="75000"/>
                      </a:schemeClr>
                    </a:solidFill>
                  </a:rPr>
                  <a:t> 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B9F98F8C-13EB-FC46-85B9-8A3C99EDF4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52627" y="3081728"/>
                <a:ext cx="3067148" cy="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6121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8F78A-11B2-1C69-BAF8-DA3059744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Tools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16A1D-6C46-B083-9889-5622217E1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57" y="1709923"/>
            <a:ext cx="7230293" cy="3923941"/>
          </a:xfrm>
          <a:prstGeom prst="roundRect">
            <a:avLst>
              <a:gd name="adj" fmla="val 2872"/>
            </a:avLst>
          </a:prstGeom>
        </p:spPr>
      </p:pic>
      <p:pic>
        <p:nvPicPr>
          <p:cNvPr id="5" name="Picture 4" descr="Cursor AI Code Editor | Paul Stamatiou">
            <a:extLst>
              <a:ext uri="{FF2B5EF4-FFF2-40B4-BE49-F238E27FC236}">
                <a16:creationId xmlns:a16="http://schemas.microsoft.com/office/drawing/2014/main" id="{FF15E5B5-23FC-E26E-57FD-BD4524D68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57" y="1079593"/>
            <a:ext cx="546098" cy="54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DD3509-441D-1E83-5FF7-271022FFB656}"/>
              </a:ext>
            </a:extLst>
          </p:cNvPr>
          <p:cNvSpPr txBox="1"/>
          <p:nvPr/>
        </p:nvSpPr>
        <p:spPr>
          <a:xfrm>
            <a:off x="888299" y="1129359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rgbClr val="41474E"/>
                </a:solidFill>
                <a:latin typeface="Consolas" panose="020B0609020204030204" pitchFamily="49" charset="0"/>
              </a:rPr>
              <a:t>Cursor</a:t>
            </a:r>
            <a:r>
              <a:rPr lang="fr-FR" b="1" dirty="0">
                <a:solidFill>
                  <a:srgbClr val="41474E"/>
                </a:solidFill>
                <a:latin typeface="Consolas" panose="020B0609020204030204" pitchFamily="49" charset="0"/>
              </a:rPr>
              <a:t> 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B80E5-7E6A-D975-9971-3B46EA5C5949}"/>
              </a:ext>
            </a:extLst>
          </p:cNvPr>
          <p:cNvSpPr txBox="1"/>
          <p:nvPr/>
        </p:nvSpPr>
        <p:spPr>
          <a:xfrm>
            <a:off x="8845533" y="4096613"/>
            <a:ext cx="2337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>
                <a:solidFill>
                  <a:srgbClr val="41474E"/>
                </a:solidFill>
                <a:latin typeface="Consolas" panose="020B0609020204030204" pitchFamily="49" charset="0"/>
              </a:rPr>
              <a:t>Claude-3.5-Sonnet</a:t>
            </a:r>
          </a:p>
          <a:p>
            <a:pPr algn="ctr"/>
            <a:r>
              <a:rPr lang="fr-FR" b="1" dirty="0">
                <a:solidFill>
                  <a:srgbClr val="41474E"/>
                </a:solidFill>
                <a:latin typeface="Consolas" panose="020B0609020204030204" pitchFamily="49" charset="0"/>
              </a:rPr>
              <a:t>(</a:t>
            </a:r>
            <a:r>
              <a:rPr lang="fr-FR" b="1" dirty="0" err="1">
                <a:solidFill>
                  <a:srgbClr val="41474E"/>
                </a:solidFill>
                <a:latin typeface="Consolas" panose="020B0609020204030204" pitchFamily="49" charset="0"/>
              </a:rPr>
              <a:t>Anthropic</a:t>
            </a:r>
            <a:r>
              <a:rPr lang="fr-FR" b="1" dirty="0">
                <a:solidFill>
                  <a:srgbClr val="41474E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EE3FD-CCE7-2AE2-41FE-D0CBEC5A8AEB}"/>
              </a:ext>
            </a:extLst>
          </p:cNvPr>
          <p:cNvSpPr txBox="1"/>
          <p:nvPr/>
        </p:nvSpPr>
        <p:spPr>
          <a:xfrm>
            <a:off x="8845533" y="2452064"/>
            <a:ext cx="2337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FF5D4E"/>
                </a:solidFill>
                <a:latin typeface="Consolas" panose="020B0609020204030204" pitchFamily="49" charset="0"/>
              </a:rPr>
              <a:t>AI Model</a:t>
            </a:r>
          </a:p>
        </p:txBody>
      </p:sp>
      <p:pic>
        <p:nvPicPr>
          <p:cNvPr id="9" name="Picture 6" descr="Anthropic annonce le lancement de Claude 3.5 Sonnet, un sérieux concurrent  à GPT-4o">
            <a:extLst>
              <a:ext uri="{FF2B5EF4-FFF2-40B4-BE49-F238E27FC236}">
                <a16:creationId xmlns:a16="http://schemas.microsoft.com/office/drawing/2014/main" id="{5A0869E9-F312-9847-9069-BCA9C2C74E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71" r="25329"/>
          <a:stretch/>
        </p:blipFill>
        <p:spPr bwMode="auto">
          <a:xfrm>
            <a:off x="9564869" y="3055758"/>
            <a:ext cx="898826" cy="898826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46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EA5A-2058-066F-DAB7-0DB72F14D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D086-9FC6-C967-755E-9DB23851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Inputs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C24B82-5DAD-BA80-74FA-1D7EAB2FD32E}"/>
              </a:ext>
            </a:extLst>
          </p:cNvPr>
          <p:cNvGrpSpPr/>
          <p:nvPr/>
        </p:nvGrpSpPr>
        <p:grpSpPr>
          <a:xfrm>
            <a:off x="365959" y="1129061"/>
            <a:ext cx="11460083" cy="4574159"/>
            <a:chOff x="332557" y="949948"/>
            <a:chExt cx="11460083" cy="4574159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271E499-F227-C800-E397-91B4406B71E1}"/>
                </a:ext>
              </a:extLst>
            </p:cNvPr>
            <p:cNvGrpSpPr/>
            <p:nvPr/>
          </p:nvGrpSpPr>
          <p:grpSpPr>
            <a:xfrm>
              <a:off x="332557" y="949948"/>
              <a:ext cx="3020504" cy="3987710"/>
              <a:chOff x="332557" y="949948"/>
              <a:chExt cx="3020504" cy="398771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A756ACD-32EB-7CE4-1CF3-28129AE8E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2557" y="1466763"/>
                <a:ext cx="3020504" cy="1508659"/>
              </a:xfrm>
              <a:prstGeom prst="roundRect">
                <a:avLst>
                  <a:gd name="adj" fmla="val 5303"/>
                </a:avLst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4BA35F44-B77B-A079-F017-EC900D292C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3" r="573"/>
              <a:stretch/>
            </p:blipFill>
            <p:spPr>
              <a:xfrm>
                <a:off x="332557" y="3428999"/>
                <a:ext cx="3020504" cy="1508659"/>
              </a:xfrm>
              <a:prstGeom prst="roundRect">
                <a:avLst>
                  <a:gd name="adj" fmla="val 5303"/>
                </a:avLst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84F4DB-7693-0D62-6691-E1CE135A1E4A}"/>
                  </a:ext>
                </a:extLst>
              </p:cNvPr>
              <p:cNvSpPr txBox="1"/>
              <p:nvPr/>
            </p:nvSpPr>
            <p:spPr>
              <a:xfrm>
                <a:off x="1243927" y="949948"/>
                <a:ext cx="11977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API Docs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3C9724D-A258-BA42-C0EE-4B056551AC0A}"/>
                </a:ext>
              </a:extLst>
            </p:cNvPr>
            <p:cNvGrpSpPr/>
            <p:nvPr/>
          </p:nvGrpSpPr>
          <p:grpSpPr>
            <a:xfrm>
              <a:off x="8224832" y="949948"/>
              <a:ext cx="3567808" cy="4574159"/>
              <a:chOff x="8224832" y="949948"/>
              <a:chExt cx="3567808" cy="4574159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D78A29-43CD-B63E-ED18-45F23BB037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24832" y="1466763"/>
                <a:ext cx="3567808" cy="4057344"/>
              </a:xfrm>
              <a:prstGeom prst="roundRect">
                <a:avLst>
                  <a:gd name="adj" fmla="val 1607"/>
                </a:avLst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20F8EB3-C457-0F42-D83A-D544261EF16D}"/>
                  </a:ext>
                </a:extLst>
              </p:cNvPr>
              <p:cNvSpPr txBox="1"/>
              <p:nvPr/>
            </p:nvSpPr>
            <p:spPr>
              <a:xfrm>
                <a:off x="8776668" y="949948"/>
                <a:ext cx="24641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b="1" dirty="0"/>
                  <a:t>A lot of </a:t>
                </a:r>
                <a:r>
                  <a:rPr lang="fr-FR" b="1" dirty="0" err="1"/>
                  <a:t>chatting</a:t>
                </a:r>
                <a:r>
                  <a:rPr lang="fr-FR" b="1" dirty="0"/>
                  <a:t>…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9473E69-3B98-0DBC-926A-65F367336935}"/>
                </a:ext>
              </a:extLst>
            </p:cNvPr>
            <p:cNvGrpSpPr/>
            <p:nvPr/>
          </p:nvGrpSpPr>
          <p:grpSpPr>
            <a:xfrm>
              <a:off x="3943186" y="949948"/>
              <a:ext cx="3691520" cy="4341726"/>
              <a:chOff x="4089302" y="949948"/>
              <a:chExt cx="3691520" cy="4341726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5D124E-A289-41A6-E2CE-1EEDD9B72621}"/>
                  </a:ext>
                </a:extLst>
              </p:cNvPr>
              <p:cNvGrpSpPr/>
              <p:nvPr/>
            </p:nvGrpSpPr>
            <p:grpSpPr>
              <a:xfrm>
                <a:off x="4089302" y="949948"/>
                <a:ext cx="3691520" cy="3987710"/>
                <a:chOff x="4089302" y="949948"/>
                <a:chExt cx="3691520" cy="3987710"/>
              </a:xfrm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B5E716A1-E503-5002-0467-FE7C3DD150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89302" y="1466763"/>
                  <a:ext cx="3691520" cy="3470895"/>
                </a:xfrm>
                <a:prstGeom prst="roundRect">
                  <a:avLst>
                    <a:gd name="adj" fmla="val 3359"/>
                  </a:avLst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15471C9F-FAE8-1E1C-9A31-A4565929F23C}"/>
                    </a:ext>
                  </a:extLst>
                </p:cNvPr>
                <p:cNvSpPr txBox="1"/>
                <p:nvPr/>
              </p:nvSpPr>
              <p:spPr>
                <a:xfrm>
                  <a:off x="4956268" y="949948"/>
                  <a:ext cx="19575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b="1" dirty="0" err="1"/>
                    <a:t>Detailed</a:t>
                  </a:r>
                  <a:r>
                    <a:rPr lang="fr-FR" b="1" dirty="0"/>
                    <a:t> </a:t>
                  </a:r>
                  <a:r>
                    <a:rPr lang="fr-FR" b="1" dirty="0" err="1"/>
                    <a:t>specs</a:t>
                  </a:r>
                  <a:endParaRPr lang="fr-FR" b="1" dirty="0"/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424C71-2A6C-305C-65C9-393BEFF1E24A}"/>
                  </a:ext>
                </a:extLst>
              </p:cNvPr>
              <p:cNvSpPr txBox="1"/>
              <p:nvPr/>
            </p:nvSpPr>
            <p:spPr>
              <a:xfrm>
                <a:off x="4089302" y="4983897"/>
                <a:ext cx="181623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i="1" dirty="0">
                    <a:solidFill>
                      <a:schemeClr val="bg1">
                        <a:lumMod val="75000"/>
                      </a:schemeClr>
                    </a:solidFill>
                  </a:rPr>
                  <a:t>/instructions.md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495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25D5-7FAF-6262-7484-7475325A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DEMONSTRATION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E52CD-4897-AA32-9A58-895B9842A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err="1"/>
              <a:t>Glossary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err="1"/>
              <a:t>Language</a:t>
            </a:r>
            <a:r>
              <a:rPr lang="fr-FR" dirty="0"/>
              <a:t> detector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err="1"/>
              <a:t>Checkboxes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Prompt </a:t>
            </a:r>
            <a:r>
              <a:rPr lang="fr-FR" dirty="0" err="1"/>
              <a:t>example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Prompt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glossary</a:t>
            </a:r>
            <a:r>
              <a:rPr lang="fr-FR" dirty="0"/>
              <a:t> </a:t>
            </a:r>
            <a:r>
              <a:rPr lang="fr-FR" dirty="0" err="1"/>
              <a:t>example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/>
              <a:t>JSON export (no more </a:t>
            </a:r>
            <a:r>
              <a:rPr lang="fr-FR" dirty="0" err="1"/>
              <a:t>excel</a:t>
            </a:r>
            <a:r>
              <a:rPr lang="fr-FR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90B915-603E-DFC3-89C5-4E5DD0EF5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679" y="1046375"/>
            <a:ext cx="5929441" cy="4113495"/>
          </a:xfrm>
          <a:prstGeom prst="roundRect">
            <a:avLst>
              <a:gd name="adj" fmla="val 2371"/>
            </a:avLst>
          </a:prstGeom>
        </p:spPr>
      </p:pic>
    </p:spTree>
    <p:extLst>
      <p:ext uri="{BB962C8B-B14F-4D97-AF65-F5344CB8AC3E}">
        <p14:creationId xmlns:p14="http://schemas.microsoft.com/office/powerpoint/2010/main" val="4054073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F773-BB25-505B-2B4B-12B30A171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DB1D5-F9B7-108C-F77D-A47849BAC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84" y="1054093"/>
            <a:ext cx="10076033" cy="474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74343"/>
      </p:ext>
    </p:extLst>
  </p:cSld>
  <p:clrMapOvr>
    <a:masterClrMapping/>
  </p:clrMapOvr>
</p:sld>
</file>

<file path=ppt/theme/theme1.xml><?xml version="1.0" encoding="utf-8"?>
<a:theme xmlns:a="http://schemas.openxmlformats.org/drawingml/2006/main" name="viniciuspm">
  <a:themeElements>
    <a:clrScheme name="vinicius.pm">
      <a:dk1>
        <a:srgbClr val="41474E"/>
      </a:dk1>
      <a:lt1>
        <a:srgbClr val="DFDFDF"/>
      </a:lt1>
      <a:dk2>
        <a:srgbClr val="2E343B"/>
      </a:dk2>
      <a:lt2>
        <a:srgbClr val="EAEAEA"/>
      </a:lt2>
      <a:accent1>
        <a:srgbClr val="FF5D4E"/>
      </a:accent1>
      <a:accent2>
        <a:srgbClr val="FF9B42"/>
      </a:accent2>
      <a:accent3>
        <a:srgbClr val="3E9C66"/>
      </a:accent3>
      <a:accent4>
        <a:srgbClr val="3B87CC"/>
      </a:accent4>
      <a:accent5>
        <a:srgbClr val="A14ECF"/>
      </a:accent5>
      <a:accent6>
        <a:srgbClr val="8BAA41"/>
      </a:accent6>
      <a:hlink>
        <a:srgbClr val="3B87CC"/>
      </a:hlink>
      <a:folHlink>
        <a:srgbClr val="835B99"/>
      </a:folHlink>
    </a:clrScheme>
    <a:fontScheme name="vinicius.pm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niciuspm" id="{C27CA7AE-72E4-4161-A42D-339DC145F727}" vid="{56A13D4C-09B9-4BF2-861B-7831ACA2C8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viniciuspm</Template>
  <TotalTime>5434</TotalTime>
  <Words>148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Consolas</vt:lpstr>
      <vt:lpstr>Wingdings</vt:lpstr>
      <vt:lpstr>viniciuspm</vt:lpstr>
      <vt:lpstr>Automatizing Platform Translations with AI</vt:lpstr>
      <vt:lpstr>Current situation</vt:lpstr>
      <vt:lpstr>Manual translations</vt:lpstr>
      <vt:lpstr>Automatic translations</vt:lpstr>
      <vt:lpstr>Proposal</vt:lpstr>
      <vt:lpstr>Tools</vt:lpstr>
      <vt:lpstr>Inputs</vt:lpstr>
      <vt:lpstr>DEMONSTRATION</vt:lpstr>
      <vt:lpstr>Variables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Saraiva Andrade</dc:creator>
  <cp:lastModifiedBy>Vinícius Saraiva Andrade</cp:lastModifiedBy>
  <cp:revision>2</cp:revision>
  <dcterms:created xsi:type="dcterms:W3CDTF">2025-02-03T13:13:37Z</dcterms:created>
  <dcterms:modified xsi:type="dcterms:W3CDTF">2025-05-06T13:20:24Z</dcterms:modified>
</cp:coreProperties>
</file>